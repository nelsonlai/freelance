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UML for Object-Oriented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is UML?</a:t>
            </a:r>
          </a:p>
        </p:txBody>
      </p:sp>
      <p:pic>
        <p:nvPicPr>
          <p:cNvPr id="3" name="Picture 2" descr="What_is_UML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Unified Modeling Language (UML) is a standard visual language.</a:t>
            </a:r>
          </a:p>
          <a:p>
            <a:pPr>
              <a:defRPr sz="2400"/>
            </a:pPr>
            <a:r>
              <a:t>Used to describe, design, and document software systems.</a:t>
            </a:r>
          </a:p>
          <a:p>
            <a:pPr>
              <a:defRPr sz="2400"/>
            </a:pPr>
            <a:r>
              <a:t>Helps communicate structure and behavior of object-oriented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Importance of UML in OOP</a:t>
            </a:r>
          </a:p>
        </p:txBody>
      </p:sp>
      <p:pic>
        <p:nvPicPr>
          <p:cNvPr id="3" name="Picture 2" descr="UML_OOP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Bridges the gap between concept and code.</a:t>
            </a:r>
          </a:p>
          <a:p>
            <a:pPr>
              <a:defRPr sz="2400"/>
            </a:pPr>
            <a:r>
              <a:t>Clarifies system requirements early in development.</a:t>
            </a:r>
          </a:p>
          <a:p>
            <a:pPr>
              <a:defRPr sz="2400"/>
            </a:pPr>
            <a:r>
              <a:t>Supports team collaboration and planning.</a:t>
            </a:r>
          </a:p>
          <a:p>
            <a:pPr>
              <a:defRPr sz="2400"/>
            </a:pPr>
            <a:r>
              <a:t>Essential for system architecture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UML Diagram Types Overview</a:t>
            </a:r>
          </a:p>
        </p:txBody>
      </p:sp>
      <p:pic>
        <p:nvPicPr>
          <p:cNvPr id="3" name="Picture 2" descr="UML_OOP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Structural: Class, Object, Component, Deployment diagrams.</a:t>
            </a:r>
          </a:p>
          <a:p>
            <a:pPr>
              <a:defRPr sz="2400"/>
            </a:pPr>
            <a:r>
              <a:t>Behavioral: Use Case, Sequence, Activity, State diagrams.</a:t>
            </a:r>
          </a:p>
          <a:p>
            <a:pPr>
              <a:defRPr sz="2400"/>
            </a:pPr>
            <a:r>
              <a:t>Represent both static and dynamic system 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Class Diagram (Example 1)</a:t>
            </a:r>
          </a:p>
        </p:txBody>
      </p:sp>
      <p:pic>
        <p:nvPicPr>
          <p:cNvPr id="3" name="Picture 2" descr="UML_OOP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Shows classes, attributes, methods, and relationships.</a:t>
            </a:r>
          </a:p>
          <a:p>
            <a:pPr>
              <a:defRPr sz="2400"/>
            </a:pPr>
            <a:r>
              <a:t>Models the static structure of a system.</a:t>
            </a:r>
          </a:p>
          <a:p>
            <a:pPr>
              <a:defRPr sz="2400"/>
            </a:pPr>
            <a:r>
              <a:t>Example: Library system with Book, Member, Librarian classes.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Sequence Diagram (Example 2)</a:t>
            </a:r>
          </a:p>
        </p:txBody>
      </p:sp>
      <p:pic>
        <p:nvPicPr>
          <p:cNvPr id="3" name="Picture 2" descr="UML_OOP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Illustrates object interactions over time.</a:t>
            </a:r>
          </a:p>
          <a:p>
            <a:pPr>
              <a:defRPr sz="2400"/>
            </a:pPr>
            <a:r>
              <a:t>Depicts message exchanges and lifelines.</a:t>
            </a:r>
          </a:p>
          <a:p>
            <a:pPr>
              <a:defRPr sz="2400"/>
            </a:pPr>
            <a:r>
              <a:t>Example: Book borrowing process in a library.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Use Case Diagram (Example 3)</a:t>
            </a:r>
          </a:p>
        </p:txBody>
      </p:sp>
      <p:pic>
        <p:nvPicPr>
          <p:cNvPr id="3" name="Picture 2" descr="UML_OOP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Shows user (actor) interactions with the system.</a:t>
            </a:r>
          </a:p>
          <a:p>
            <a:pPr>
              <a:defRPr sz="2400"/>
            </a:pPr>
            <a:r>
              <a:t>Identifies functional requirements from user perspective.</a:t>
            </a:r>
          </a:p>
          <a:p>
            <a:pPr>
              <a:defRPr sz="2400"/>
            </a:pPr>
            <a:r>
              <a:t>Example: Online shopping use cases like Browse, Checkout.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Activity Diagram (Example 4)</a:t>
            </a:r>
          </a:p>
        </p:txBody>
      </p:sp>
      <p:pic>
        <p:nvPicPr>
          <p:cNvPr id="3" name="Picture 2" descr="UML_OOP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Models workflows and decision logic.</a:t>
            </a:r>
          </a:p>
          <a:p>
            <a:pPr>
              <a:defRPr sz="2400"/>
            </a:pPr>
            <a:r>
              <a:t>Describes dynamic processes and control flows.</a:t>
            </a:r>
          </a:p>
          <a:p>
            <a:pPr>
              <a:defRPr sz="2400"/>
            </a:pPr>
            <a:r>
              <a:t>Example: Login process steps in an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State Diagram (Example 5)</a:t>
            </a:r>
          </a:p>
        </p:txBody>
      </p:sp>
      <p:pic>
        <p:nvPicPr>
          <p:cNvPr id="3" name="Picture 2" descr="UML_OOP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Shows object state changes in response to events.</a:t>
            </a:r>
          </a:p>
          <a:p>
            <a:pPr>
              <a:defRPr sz="2400"/>
            </a:pPr>
            <a:r>
              <a:t>Represents lifecycle and transitions.</a:t>
            </a:r>
          </a:p>
          <a:p>
            <a:pPr>
              <a:defRPr sz="2400"/>
            </a:pPr>
            <a:r>
              <a:t>Example: Order states—New, Processing, Shipped, Delivered.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Summary of UML Benefits</a:t>
            </a:r>
          </a:p>
        </p:txBody>
      </p:sp>
      <p:pic>
        <p:nvPicPr>
          <p:cNvPr id="3" name="Picture 2" descr="UML_OOP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Improves design clarity and planning.</a:t>
            </a:r>
          </a:p>
          <a:p>
            <a:pPr>
              <a:defRPr sz="2400"/>
            </a:pPr>
            <a:r>
              <a:t>Facilitates maintenance and documentation.</a:t>
            </a:r>
          </a:p>
          <a:p>
            <a:pPr>
              <a:defRPr sz="2400"/>
            </a:pPr>
            <a:r>
              <a:t>Enables standardization and scalable architecture.</a:t>
            </a:r>
          </a:p>
          <a:p>
            <a:pPr>
              <a:defRPr sz="2400"/>
            </a:pPr>
            <a:r>
              <a:t>Supports team collaboration.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