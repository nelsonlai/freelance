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📘 What’s This Book About? – 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💡 Core Idea</a:t>
            </a:r>
          </a:p>
          <a:p>
            <a:r>
              <a:rPr dirty="0"/>
              <a:t>Writing a working program isn't always enough — we must care about efficiency, especially for large input sizes.</a:t>
            </a:r>
          </a:p>
          <a:p>
            <a:endParaRPr dirty="0"/>
          </a:p>
          <a:p>
            <a:r>
              <a:rPr dirty="0"/>
              <a:t>🧮 Example 1: kth Largest Number (Selection Problem)</a:t>
            </a:r>
          </a:p>
          <a:p>
            <a:r>
              <a:rPr dirty="0"/>
              <a:t>- Naive Algorithms:</a:t>
            </a:r>
          </a:p>
          <a:p>
            <a:r>
              <a:rPr dirty="0"/>
              <a:t>  - Sort entire array → return kth element</a:t>
            </a:r>
          </a:p>
          <a:p>
            <a:r>
              <a:rPr dirty="0"/>
              <a:t>  - Keep top k elements sorted → insert if larger than kth</a:t>
            </a:r>
          </a:p>
          <a:p>
            <a:r>
              <a:rPr dirty="0"/>
              <a:t>- Problem:</a:t>
            </a:r>
          </a:p>
          <a:p>
            <a:r>
              <a:rPr dirty="0"/>
              <a:t>  - Too slow for large N (e.g., 30 million)</a:t>
            </a:r>
          </a:p>
          <a:p>
            <a:r>
              <a:rPr dirty="0"/>
              <a:t>  - Takes days to complete</a:t>
            </a:r>
          </a:p>
          <a:p>
            <a:r>
              <a:rPr dirty="0"/>
              <a:t>- Better Solution:</a:t>
            </a:r>
          </a:p>
          <a:p>
            <a:r>
              <a:rPr dirty="0"/>
              <a:t>  - Exists — covered in Chapter 7</a:t>
            </a:r>
          </a:p>
          <a:p>
            <a:r>
              <a:rPr dirty="0"/>
              <a:t>  - Finishes in ~1 second</a:t>
            </a:r>
          </a:p>
          <a:p>
            <a:endParaRPr dirty="0"/>
          </a:p>
          <a:p>
            <a:r>
              <a:rPr dirty="0"/>
              <a:t>🔍 Example 2: Word Search Puzzle</a:t>
            </a:r>
          </a:p>
          <a:p>
            <a:r>
              <a:rPr dirty="0"/>
              <a:t>- Puzzle: 2D letter grid + word list</a:t>
            </a:r>
          </a:p>
          <a:p>
            <a:r>
              <a:rPr dirty="0"/>
              <a:t>- Naive Methods:</a:t>
            </a:r>
          </a:p>
          <a:p>
            <a:r>
              <a:rPr dirty="0"/>
              <a:t>  - Search all (row, col, direction) combinations</a:t>
            </a:r>
          </a:p>
          <a:p>
            <a:r>
              <a:rPr dirty="0"/>
              <a:t>- Challenge:</a:t>
            </a:r>
          </a:p>
          <a:p>
            <a:r>
              <a:rPr dirty="0"/>
              <a:t>  - Slow with large dictionaries</a:t>
            </a:r>
          </a:p>
          <a:p>
            <a:r>
              <a:rPr dirty="0"/>
              <a:t>- Optimized Solutions:</a:t>
            </a:r>
          </a:p>
          <a:p>
            <a:r>
              <a:rPr dirty="0"/>
              <a:t>  - Much faster algorithms exist</a:t>
            </a:r>
          </a:p>
          <a:p>
            <a:endParaRPr dirty="0"/>
          </a:p>
          <a:p>
            <a:r>
              <a:rPr dirty="0"/>
              <a:t>🚀 Takeaway</a:t>
            </a:r>
          </a:p>
          <a:p>
            <a:r>
              <a:rPr dirty="0"/>
              <a:t>Efficient algorithms are crucial. Learn to analyze, compare, and optimize code performance.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📘 Mathematics Review –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🔢 Exponents &amp; Logarithms:</a:t>
            </a:r>
          </a:p>
          <a:p>
            <a:r>
              <a:rPr sz="1600" dirty="0"/>
              <a:t>- Laws of exponents (e.g., X^A * X^B = X^(A+B))</a:t>
            </a:r>
          </a:p>
          <a:p>
            <a:r>
              <a:rPr sz="1600" dirty="0"/>
              <a:t>- log(A * B) = log A + log B, log(A/B) = log A - log B</a:t>
            </a:r>
          </a:p>
          <a:p>
            <a:r>
              <a:rPr sz="1600" dirty="0"/>
              <a:t>- Change of base: </a:t>
            </a:r>
            <a:r>
              <a:rPr sz="1600" dirty="0" err="1"/>
              <a:t>log_A</a:t>
            </a:r>
            <a:r>
              <a:rPr sz="1600" dirty="0"/>
              <a:t>(B) = </a:t>
            </a:r>
            <a:r>
              <a:rPr sz="1600" dirty="0" err="1"/>
              <a:t>log_C</a:t>
            </a:r>
            <a:r>
              <a:rPr sz="1600" dirty="0"/>
              <a:t>(B) / </a:t>
            </a:r>
            <a:r>
              <a:rPr sz="1600" dirty="0" err="1"/>
              <a:t>log_C</a:t>
            </a:r>
            <a:r>
              <a:rPr sz="1600" dirty="0"/>
              <a:t>(A)</a:t>
            </a:r>
          </a:p>
          <a:p>
            <a:pPr marL="0" indent="0">
              <a:buNone/>
            </a:pPr>
            <a:r>
              <a:rPr sz="1600" dirty="0"/>
              <a:t>📈 Series:</a:t>
            </a:r>
          </a:p>
          <a:p>
            <a:r>
              <a:rPr sz="1600" dirty="0"/>
              <a:t>- Geometric: ∑ </a:t>
            </a:r>
            <a:r>
              <a:rPr sz="1600" dirty="0" err="1"/>
              <a:t>A^i</a:t>
            </a:r>
            <a:r>
              <a:rPr sz="1600" dirty="0"/>
              <a:t> = (1 - A^(N+1)) / (1 - A), or ∑ </a:t>
            </a:r>
            <a:r>
              <a:rPr sz="1600" dirty="0" err="1"/>
              <a:t>A^i</a:t>
            </a:r>
            <a:r>
              <a:rPr sz="1600" dirty="0"/>
              <a:t> = 1 / (1 - A)</a:t>
            </a:r>
          </a:p>
          <a:p>
            <a:r>
              <a:rPr sz="1600" dirty="0"/>
              <a:t>- Arithmetic: ∑ </a:t>
            </a:r>
            <a:r>
              <a:rPr sz="1600" dirty="0" err="1"/>
              <a:t>i</a:t>
            </a:r>
            <a:r>
              <a:rPr sz="1600" dirty="0"/>
              <a:t> = N(N + 1)/2, ∑ i^2 = N(N + 1)(2N + 1)/6</a:t>
            </a:r>
          </a:p>
          <a:p>
            <a:r>
              <a:rPr sz="1600" dirty="0"/>
              <a:t>- Harmonic: ∑ 1/</a:t>
            </a:r>
            <a:r>
              <a:rPr sz="1600" dirty="0" err="1"/>
              <a:t>i</a:t>
            </a:r>
            <a:r>
              <a:rPr sz="1600" dirty="0"/>
              <a:t> ≈ ln(N) + </a:t>
            </a:r>
            <a:r>
              <a:rPr sz="1600" dirty="0" err="1"/>
              <a:t>γ</a:t>
            </a:r>
            <a:endParaRPr sz="1600" dirty="0"/>
          </a:p>
          <a:p>
            <a:pPr marL="0" indent="0">
              <a:buNone/>
            </a:pPr>
            <a:r>
              <a:rPr sz="1600" dirty="0"/>
              <a:t>🔁 Modular Arithmetic:</a:t>
            </a:r>
          </a:p>
          <a:p>
            <a:r>
              <a:rPr sz="1600" dirty="0"/>
              <a:t>- A ≡ B (mod N): A and B leave same remainder mod N</a:t>
            </a:r>
          </a:p>
          <a:p>
            <a:r>
              <a:rPr sz="1600" dirty="0"/>
              <a:t>- Prime N rules: inverse exists, prime divisor property</a:t>
            </a:r>
          </a:p>
          <a:p>
            <a:pPr marL="0" indent="0">
              <a:buNone/>
            </a:pPr>
            <a:r>
              <a:rPr sz="1600" dirty="0"/>
              <a:t>📐 Proof Techniques:</a:t>
            </a:r>
          </a:p>
          <a:p>
            <a:r>
              <a:rPr sz="1600" dirty="0"/>
              <a:t>- Induction: Prove base case, then assume k, prove k+1</a:t>
            </a:r>
          </a:p>
          <a:p>
            <a:r>
              <a:rPr sz="1600" dirty="0"/>
              <a:t>- Contradiction: Assume false → contradiction → proven true</a:t>
            </a:r>
          </a:p>
          <a:p>
            <a:r>
              <a:rPr sz="1600" dirty="0"/>
              <a:t>- Counterexample: One false case disproves statement</a:t>
            </a:r>
          </a:p>
          <a:p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417</Words>
  <Application>Microsoft Macintosh PowerPoint</Application>
  <PresentationFormat>On-screen Show (4:3)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📘 What’s This Book About? – A Summary</vt:lpstr>
      <vt:lpstr>📘 Mathematics Review – Key Concepts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Lai</cp:lastModifiedBy>
  <cp:revision>3</cp:revision>
  <dcterms:created xsi:type="dcterms:W3CDTF">2013-01-27T09:14:16Z</dcterms:created>
  <dcterms:modified xsi:type="dcterms:W3CDTF">2025-06-01T02:22:21Z</dcterms:modified>
  <cp:category/>
</cp:coreProperties>
</file>